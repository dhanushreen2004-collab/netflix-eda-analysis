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50914"/>
          </a:solidFill>
          <a:ln w="12700">
            <a:solidFill>
              <a:srgbClr val="E50914"/>
            </a:solidFill>
            <a:prstDash val="solid"/>
          </a:ln>
        </p:spPr>
      </p:sp>
      <p:sp>
        <p:nvSpPr>
          <p:cNvPr id="3" name="Text 1"/>
          <p:cNvSpPr/>
          <p:nvPr/>
        </p:nvSpPr>
        <p:spPr>
          <a:xfrm>
            <a:off x="548640" y="640080"/>
            <a:ext cx="841248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Exploratory Data Analysis</a:t>
            </a:r>
            <a:endParaRPr lang="en-US" sz="3600" dirty="0"/>
          </a:p>
        </p:txBody>
      </p:sp>
      <p:sp>
        <p:nvSpPr>
          <p:cNvPr id="4" name="Text 2"/>
          <p:cNvSpPr/>
          <p:nvPr/>
        </p:nvSpPr>
        <p:spPr>
          <a:xfrm>
            <a:off x="548640" y="1371600"/>
            <a:ext cx="8412480" cy="731520"/>
          </a:xfrm>
          <a:prstGeom prst="rect">
            <a:avLst/>
          </a:prstGeom>
          <a:noFill/>
          <a:ln/>
        </p:spPr>
        <p:txBody>
          <a:bodyPr wrap="square" rtlCol="0" anchor="ctr"/>
          <a:lstStyle/>
          <a:p>
            <a:pPr indent="0" marL="0">
              <a:buNone/>
            </a:pPr>
            <a:r>
              <a:rPr lang="en-US" sz="3000" b="1" dirty="0">
                <a:solidFill>
                  <a:srgbClr val="E50914"/>
                </a:solidFill>
                <a:latin typeface="Calibri" pitchFamily="34" charset="0"/>
                <a:ea typeface="Calibri" pitchFamily="34" charset="-122"/>
                <a:cs typeface="Calibri" pitchFamily="34" charset="-120"/>
              </a:rPr>
              <a:t>of Netflix Movies &amp; TV Shows</a:t>
            </a:r>
            <a:endParaRPr lang="en-US" sz="3000" dirty="0"/>
          </a:p>
        </p:txBody>
      </p:sp>
      <p:sp>
        <p:nvSpPr>
          <p:cNvPr id="5" name="Shape 3"/>
          <p:cNvSpPr/>
          <p:nvPr/>
        </p:nvSpPr>
        <p:spPr>
          <a:xfrm>
            <a:off x="548640" y="2194560"/>
            <a:ext cx="7772400" cy="27432"/>
          </a:xfrm>
          <a:prstGeom prst="rect">
            <a:avLst/>
          </a:prstGeom>
          <a:solidFill>
            <a:srgbClr val="333333"/>
          </a:solidFill>
          <a:ln w="12700">
            <a:solidFill>
              <a:srgbClr val="333333"/>
            </a:solidFill>
            <a:prstDash val="solid"/>
          </a:ln>
        </p:spPr>
      </p:sp>
      <p:sp>
        <p:nvSpPr>
          <p:cNvPr id="6" name="Text 4"/>
          <p:cNvSpPr/>
          <p:nvPr/>
        </p:nvSpPr>
        <p:spPr>
          <a:xfrm>
            <a:off x="640080" y="2423160"/>
            <a:ext cx="2011680" cy="274320"/>
          </a:xfrm>
          <a:prstGeom prst="rect">
            <a:avLst/>
          </a:prstGeom>
          <a:noFill/>
          <a:ln/>
        </p:spPr>
        <p:txBody>
          <a:bodyPr wrap="square" rtlCol="0" anchor="ctr"/>
          <a:lstStyle/>
          <a:p>
            <a:pPr indent="0" marL="0">
              <a:buNone/>
            </a:pPr>
            <a:r>
              <a:rPr lang="en-US" sz="1000" b="1" dirty="0">
                <a:solidFill>
                  <a:srgbClr val="B3B3B3"/>
                </a:solidFill>
                <a:latin typeface="Calibri" pitchFamily="34" charset="0"/>
                <a:ea typeface="Calibri" pitchFamily="34" charset="-122"/>
                <a:cs typeface="Calibri" pitchFamily="34" charset="-120"/>
              </a:rPr>
              <a:t>DATASET</a:t>
            </a:r>
            <a:endParaRPr lang="en-US" sz="1000" dirty="0"/>
          </a:p>
        </p:txBody>
      </p:sp>
      <p:sp>
        <p:nvSpPr>
          <p:cNvPr id="7" name="Text 5"/>
          <p:cNvSpPr/>
          <p:nvPr/>
        </p:nvSpPr>
        <p:spPr>
          <a:xfrm>
            <a:off x="640080" y="2679192"/>
            <a:ext cx="7315200" cy="3200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netflix_titles.csv</a:t>
            </a:r>
            <a:endParaRPr lang="en-US" sz="1600" dirty="0"/>
          </a:p>
        </p:txBody>
      </p:sp>
      <p:sp>
        <p:nvSpPr>
          <p:cNvPr id="8" name="Text 6"/>
          <p:cNvSpPr/>
          <p:nvPr/>
        </p:nvSpPr>
        <p:spPr>
          <a:xfrm>
            <a:off x="640080" y="3108960"/>
            <a:ext cx="2011680" cy="274320"/>
          </a:xfrm>
          <a:prstGeom prst="rect">
            <a:avLst/>
          </a:prstGeom>
          <a:noFill/>
          <a:ln/>
        </p:spPr>
        <p:txBody>
          <a:bodyPr wrap="square" rtlCol="0" anchor="ctr"/>
          <a:lstStyle/>
          <a:p>
            <a:pPr indent="0" marL="0">
              <a:buNone/>
            </a:pPr>
            <a:r>
              <a:rPr lang="en-US" sz="1000" b="1" dirty="0">
                <a:solidFill>
                  <a:srgbClr val="B3B3B3"/>
                </a:solidFill>
                <a:latin typeface="Calibri" pitchFamily="34" charset="0"/>
                <a:ea typeface="Calibri" pitchFamily="34" charset="-122"/>
                <a:cs typeface="Calibri" pitchFamily="34" charset="-120"/>
              </a:rPr>
              <a:t>PRESENTED BY</a:t>
            </a:r>
            <a:endParaRPr lang="en-US" sz="1000" dirty="0"/>
          </a:p>
        </p:txBody>
      </p:sp>
      <p:sp>
        <p:nvSpPr>
          <p:cNvPr id="9" name="Text 7"/>
          <p:cNvSpPr/>
          <p:nvPr/>
        </p:nvSpPr>
        <p:spPr>
          <a:xfrm>
            <a:off x="640080" y="3364992"/>
            <a:ext cx="7315200" cy="3200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Dhanushree N</a:t>
            </a:r>
            <a:endParaRPr lang="en-US" sz="1600" dirty="0"/>
          </a:p>
        </p:txBody>
      </p:sp>
      <p:sp>
        <p:nvSpPr>
          <p:cNvPr id="10" name="Text 8"/>
          <p:cNvSpPr/>
          <p:nvPr/>
        </p:nvSpPr>
        <p:spPr>
          <a:xfrm>
            <a:off x="640080" y="3794760"/>
            <a:ext cx="2011680" cy="274320"/>
          </a:xfrm>
          <a:prstGeom prst="rect">
            <a:avLst/>
          </a:prstGeom>
          <a:noFill/>
          <a:ln/>
        </p:spPr>
        <p:txBody>
          <a:bodyPr wrap="square" rtlCol="0" anchor="ctr"/>
          <a:lstStyle/>
          <a:p>
            <a:pPr indent="0" marL="0">
              <a:buNone/>
            </a:pPr>
            <a:r>
              <a:rPr lang="en-US" sz="1000" b="1" dirty="0">
                <a:solidFill>
                  <a:srgbClr val="B3B3B3"/>
                </a:solidFill>
                <a:latin typeface="Calibri" pitchFamily="34" charset="0"/>
                <a:ea typeface="Calibri" pitchFamily="34" charset="-122"/>
                <a:cs typeface="Calibri" pitchFamily="34" charset="-120"/>
              </a:rPr>
              <a:t>TOOL</a:t>
            </a:r>
            <a:endParaRPr lang="en-US" sz="1000" dirty="0"/>
          </a:p>
        </p:txBody>
      </p:sp>
      <p:sp>
        <p:nvSpPr>
          <p:cNvPr id="11" name="Text 9"/>
          <p:cNvSpPr/>
          <p:nvPr/>
        </p:nvSpPr>
        <p:spPr>
          <a:xfrm>
            <a:off x="640080" y="4050792"/>
            <a:ext cx="7315200" cy="3200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Python | Pandas | Seaborn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1414"/>
          </a:solidFill>
          <a:ln w="12700">
            <a:solidFill>
              <a:srgbClr val="141414"/>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 &amp; Objectives</a:t>
            </a:r>
            <a:endParaRPr lang="en-US" sz="2200" dirty="0"/>
          </a:p>
        </p:txBody>
      </p:sp>
      <p:sp>
        <p:nvSpPr>
          <p:cNvPr id="4" name="Text 2"/>
          <p:cNvSpPr/>
          <p:nvPr/>
        </p:nvSpPr>
        <p:spPr>
          <a:xfrm>
            <a:off x="365760" y="868680"/>
            <a:ext cx="8229600" cy="365760"/>
          </a:xfrm>
          <a:prstGeom prst="rect">
            <a:avLst/>
          </a:prstGeom>
          <a:noFill/>
          <a:ln/>
        </p:spPr>
        <p:txBody>
          <a:bodyPr wrap="square" rtlCol="0" anchor="ctr"/>
          <a:lstStyle/>
          <a:p>
            <a:pPr indent="0" marL="0">
              <a:buNone/>
            </a:pPr>
            <a:r>
              <a:rPr lang="en-US" sz="1500" b="1" dirty="0">
                <a:solidFill>
                  <a:srgbClr val="E50914"/>
                </a:solidFill>
                <a:latin typeface="Calibri" pitchFamily="34" charset="0"/>
                <a:ea typeface="Calibri" pitchFamily="34" charset="-122"/>
                <a:cs typeface="Calibri" pitchFamily="34" charset="-120"/>
              </a:rPr>
              <a:t>Problem Statement</a:t>
            </a:r>
            <a:endParaRPr lang="en-US" sz="1500" dirty="0"/>
          </a:p>
        </p:txBody>
      </p:sp>
      <p:sp>
        <p:nvSpPr>
          <p:cNvPr id="5" name="Text 3"/>
          <p:cNvSpPr/>
          <p:nvPr/>
        </p:nvSpPr>
        <p:spPr>
          <a:xfrm>
            <a:off x="365760" y="1207008"/>
            <a:ext cx="8412480" cy="7772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Netflix offers a vast collection of movies and TV shows across genres, countries, and languages. This project performs Exploratory Data Analysis (EDA) to understand content trends, audience preferences, ratings, genres, and country-wise distribution.</a:t>
            </a:r>
            <a:endParaRPr lang="en-US" sz="1300" dirty="0"/>
          </a:p>
        </p:txBody>
      </p:sp>
      <p:sp>
        <p:nvSpPr>
          <p:cNvPr id="6" name="Text 4"/>
          <p:cNvSpPr/>
          <p:nvPr/>
        </p:nvSpPr>
        <p:spPr>
          <a:xfrm>
            <a:off x="365760" y="2057400"/>
            <a:ext cx="8229600" cy="365760"/>
          </a:xfrm>
          <a:prstGeom prst="rect">
            <a:avLst/>
          </a:prstGeom>
          <a:noFill/>
          <a:ln/>
        </p:spPr>
        <p:txBody>
          <a:bodyPr wrap="square" rtlCol="0" anchor="ctr"/>
          <a:lstStyle/>
          <a:p>
            <a:pPr indent="0" marL="0">
              <a:buNone/>
            </a:pPr>
            <a:r>
              <a:rPr lang="en-US" sz="1500" b="1" dirty="0">
                <a:solidFill>
                  <a:srgbClr val="E50914"/>
                </a:solidFill>
                <a:latin typeface="Calibri" pitchFamily="34" charset="0"/>
                <a:ea typeface="Calibri" pitchFamily="34" charset="-122"/>
                <a:cs typeface="Calibri" pitchFamily="34" charset="-120"/>
              </a:rPr>
              <a:t>Objectives</a:t>
            </a:r>
            <a:endParaRPr lang="en-US" sz="1500" dirty="0"/>
          </a:p>
        </p:txBody>
      </p:sp>
      <p:sp>
        <p:nvSpPr>
          <p:cNvPr id="7" name="Text 5"/>
          <p:cNvSpPr/>
          <p:nvPr/>
        </p:nvSpPr>
        <p:spPr>
          <a:xfrm>
            <a:off x="457200" y="2423160"/>
            <a:ext cx="8229600" cy="2468880"/>
          </a:xfrm>
          <a:prstGeom prst="rect">
            <a:avLst/>
          </a:prstGeom>
          <a:noFill/>
          <a:ln/>
        </p:spPr>
        <p:txBody>
          <a:bodyPr wrap="square" rtlCol="0" anchor="ctr"/>
          <a:lstStyle/>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Analyze Movies vs TV Shows distribution</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Identify top contributing countries</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Study content release year trends</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Analyze ratings and genres</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Handle missing and duplicate data</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Visualize insights using charts and graphs</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Identify top directors and cast members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1414"/>
          </a:solidFill>
          <a:ln w="12700">
            <a:solidFill>
              <a:srgbClr val="141414"/>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Cleaning &amp; Feature Engineering</a:t>
            </a:r>
            <a:endParaRPr lang="en-US" sz="2200" dirty="0"/>
          </a:p>
        </p:txBody>
      </p:sp>
      <p:sp>
        <p:nvSpPr>
          <p:cNvPr id="4" name="Text 2"/>
          <p:cNvSpPr/>
          <p:nvPr/>
        </p:nvSpPr>
        <p:spPr>
          <a:xfrm>
            <a:off x="365760" y="822960"/>
            <a:ext cx="8229600" cy="365760"/>
          </a:xfrm>
          <a:prstGeom prst="rect">
            <a:avLst/>
          </a:prstGeom>
          <a:noFill/>
          <a:ln/>
        </p:spPr>
        <p:txBody>
          <a:bodyPr wrap="square" rtlCol="0" anchor="ctr"/>
          <a:lstStyle/>
          <a:p>
            <a:pPr indent="0" marL="0">
              <a:buNone/>
            </a:pPr>
            <a:r>
              <a:rPr lang="en-US" sz="1500" b="1" dirty="0">
                <a:solidFill>
                  <a:srgbClr val="E50914"/>
                </a:solidFill>
                <a:latin typeface="Calibri" pitchFamily="34" charset="0"/>
                <a:ea typeface="Calibri" pitchFamily="34" charset="-122"/>
                <a:cs typeface="Calibri" pitchFamily="34" charset="-120"/>
              </a:rPr>
              <a:t>Missing Value Handling</a:t>
            </a:r>
            <a:endParaRPr lang="en-US" sz="1500" dirty="0"/>
          </a:p>
        </p:txBody>
      </p:sp>
      <p:sp>
        <p:nvSpPr>
          <p:cNvPr id="5" name="Shape 3"/>
          <p:cNvSpPr/>
          <p:nvPr/>
        </p:nvSpPr>
        <p:spPr>
          <a:xfrm>
            <a:off x="365760" y="1234440"/>
            <a:ext cx="1828800" cy="320040"/>
          </a:xfrm>
          <a:prstGeom prst="rect">
            <a:avLst/>
          </a:prstGeom>
          <a:solidFill>
            <a:srgbClr val="141414"/>
          </a:solidFill>
          <a:ln w="12700">
            <a:solidFill>
              <a:srgbClr val="141414"/>
            </a:solidFill>
            <a:prstDash val="solid"/>
          </a:ln>
        </p:spPr>
      </p:sp>
      <p:sp>
        <p:nvSpPr>
          <p:cNvPr id="6" name="Text 4"/>
          <p:cNvSpPr/>
          <p:nvPr/>
        </p:nvSpPr>
        <p:spPr>
          <a:xfrm>
            <a:off x="365760" y="1234440"/>
            <a:ext cx="1828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director</a:t>
            </a:r>
            <a:endParaRPr lang="en-US" sz="1200" dirty="0"/>
          </a:p>
        </p:txBody>
      </p:sp>
      <p:sp>
        <p:nvSpPr>
          <p:cNvPr id="7" name="Text 5"/>
          <p:cNvSpPr/>
          <p:nvPr/>
        </p:nvSpPr>
        <p:spPr>
          <a:xfrm>
            <a:off x="2331720" y="1252728"/>
            <a:ext cx="6400800" cy="3200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Filled missing values with 'Unknown'</a:t>
            </a:r>
            <a:endParaRPr lang="en-US" sz="1200" dirty="0"/>
          </a:p>
        </p:txBody>
      </p:sp>
      <p:sp>
        <p:nvSpPr>
          <p:cNvPr id="8" name="Shape 6"/>
          <p:cNvSpPr/>
          <p:nvPr/>
        </p:nvSpPr>
        <p:spPr>
          <a:xfrm>
            <a:off x="365760" y="1673352"/>
            <a:ext cx="1828800" cy="320040"/>
          </a:xfrm>
          <a:prstGeom prst="rect">
            <a:avLst/>
          </a:prstGeom>
          <a:solidFill>
            <a:srgbClr val="141414"/>
          </a:solidFill>
          <a:ln w="12700">
            <a:solidFill>
              <a:srgbClr val="141414"/>
            </a:solidFill>
            <a:prstDash val="solid"/>
          </a:ln>
        </p:spPr>
      </p:sp>
      <p:sp>
        <p:nvSpPr>
          <p:cNvPr id="9" name="Text 7"/>
          <p:cNvSpPr/>
          <p:nvPr/>
        </p:nvSpPr>
        <p:spPr>
          <a:xfrm>
            <a:off x="365760" y="1673352"/>
            <a:ext cx="1828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cast</a:t>
            </a:r>
            <a:endParaRPr lang="en-US" sz="1200" dirty="0"/>
          </a:p>
        </p:txBody>
      </p:sp>
      <p:sp>
        <p:nvSpPr>
          <p:cNvPr id="10" name="Text 8"/>
          <p:cNvSpPr/>
          <p:nvPr/>
        </p:nvSpPr>
        <p:spPr>
          <a:xfrm>
            <a:off x="2331720" y="1691640"/>
            <a:ext cx="6400800" cy="3200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Filled missing values with 'Not Available'</a:t>
            </a:r>
            <a:endParaRPr lang="en-US" sz="1200" dirty="0"/>
          </a:p>
        </p:txBody>
      </p:sp>
      <p:sp>
        <p:nvSpPr>
          <p:cNvPr id="11" name="Shape 9"/>
          <p:cNvSpPr/>
          <p:nvPr/>
        </p:nvSpPr>
        <p:spPr>
          <a:xfrm>
            <a:off x="365760" y="2112264"/>
            <a:ext cx="1828800" cy="320040"/>
          </a:xfrm>
          <a:prstGeom prst="rect">
            <a:avLst/>
          </a:prstGeom>
          <a:solidFill>
            <a:srgbClr val="141414"/>
          </a:solidFill>
          <a:ln w="12700">
            <a:solidFill>
              <a:srgbClr val="141414"/>
            </a:solidFill>
            <a:prstDash val="solid"/>
          </a:ln>
        </p:spPr>
      </p:sp>
      <p:sp>
        <p:nvSpPr>
          <p:cNvPr id="12" name="Text 10"/>
          <p:cNvSpPr/>
          <p:nvPr/>
        </p:nvSpPr>
        <p:spPr>
          <a:xfrm>
            <a:off x="365760" y="2112264"/>
            <a:ext cx="1828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country</a:t>
            </a:r>
            <a:endParaRPr lang="en-US" sz="1200" dirty="0"/>
          </a:p>
        </p:txBody>
      </p:sp>
      <p:sp>
        <p:nvSpPr>
          <p:cNvPr id="13" name="Text 11"/>
          <p:cNvSpPr/>
          <p:nvPr/>
        </p:nvSpPr>
        <p:spPr>
          <a:xfrm>
            <a:off x="2331720" y="2130552"/>
            <a:ext cx="6400800" cy="3200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Filled missing values with 'Unknown'</a:t>
            </a:r>
            <a:endParaRPr lang="en-US" sz="1200" dirty="0"/>
          </a:p>
        </p:txBody>
      </p:sp>
      <p:sp>
        <p:nvSpPr>
          <p:cNvPr id="14" name="Shape 12"/>
          <p:cNvSpPr/>
          <p:nvPr/>
        </p:nvSpPr>
        <p:spPr>
          <a:xfrm>
            <a:off x="365760" y="2551176"/>
            <a:ext cx="1828800" cy="320040"/>
          </a:xfrm>
          <a:prstGeom prst="rect">
            <a:avLst/>
          </a:prstGeom>
          <a:solidFill>
            <a:srgbClr val="141414"/>
          </a:solidFill>
          <a:ln w="12700">
            <a:solidFill>
              <a:srgbClr val="141414"/>
            </a:solidFill>
            <a:prstDash val="solid"/>
          </a:ln>
        </p:spPr>
      </p:sp>
      <p:sp>
        <p:nvSpPr>
          <p:cNvPr id="15" name="Text 13"/>
          <p:cNvSpPr/>
          <p:nvPr/>
        </p:nvSpPr>
        <p:spPr>
          <a:xfrm>
            <a:off x="365760" y="2551176"/>
            <a:ext cx="1828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rating</a:t>
            </a:r>
            <a:endParaRPr lang="en-US" sz="1200" dirty="0"/>
          </a:p>
        </p:txBody>
      </p:sp>
      <p:sp>
        <p:nvSpPr>
          <p:cNvPr id="16" name="Text 14"/>
          <p:cNvSpPr/>
          <p:nvPr/>
        </p:nvSpPr>
        <p:spPr>
          <a:xfrm>
            <a:off x="2331720" y="2569464"/>
            <a:ext cx="6400800" cy="3200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Filled with mode (most frequent value)</a:t>
            </a:r>
            <a:endParaRPr lang="en-US" sz="1200" dirty="0"/>
          </a:p>
        </p:txBody>
      </p:sp>
      <p:sp>
        <p:nvSpPr>
          <p:cNvPr id="17" name="Shape 15"/>
          <p:cNvSpPr/>
          <p:nvPr/>
        </p:nvSpPr>
        <p:spPr>
          <a:xfrm>
            <a:off x="365760" y="2990088"/>
            <a:ext cx="1828800" cy="320040"/>
          </a:xfrm>
          <a:prstGeom prst="rect">
            <a:avLst/>
          </a:prstGeom>
          <a:solidFill>
            <a:srgbClr val="141414"/>
          </a:solidFill>
          <a:ln w="12700">
            <a:solidFill>
              <a:srgbClr val="141414"/>
            </a:solidFill>
            <a:prstDash val="solid"/>
          </a:ln>
        </p:spPr>
      </p:sp>
      <p:sp>
        <p:nvSpPr>
          <p:cNvPr id="18" name="Text 16"/>
          <p:cNvSpPr/>
          <p:nvPr/>
        </p:nvSpPr>
        <p:spPr>
          <a:xfrm>
            <a:off x="365760" y="2990088"/>
            <a:ext cx="1828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date_added</a:t>
            </a:r>
            <a:endParaRPr lang="en-US" sz="1200" dirty="0"/>
          </a:p>
        </p:txBody>
      </p:sp>
      <p:sp>
        <p:nvSpPr>
          <p:cNvPr id="19" name="Text 17"/>
          <p:cNvSpPr/>
          <p:nvPr/>
        </p:nvSpPr>
        <p:spPr>
          <a:xfrm>
            <a:off x="2331720" y="3008376"/>
            <a:ext cx="6400800" cy="3200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Filled missing with 'Unknown', converted to datetime</a:t>
            </a:r>
            <a:endParaRPr lang="en-US" sz="1200" dirty="0"/>
          </a:p>
        </p:txBody>
      </p:sp>
      <p:sp>
        <p:nvSpPr>
          <p:cNvPr id="20" name="Shape 18"/>
          <p:cNvSpPr/>
          <p:nvPr/>
        </p:nvSpPr>
        <p:spPr>
          <a:xfrm>
            <a:off x="365760" y="3429000"/>
            <a:ext cx="1828800" cy="320040"/>
          </a:xfrm>
          <a:prstGeom prst="rect">
            <a:avLst/>
          </a:prstGeom>
          <a:solidFill>
            <a:srgbClr val="141414"/>
          </a:solidFill>
          <a:ln w="12700">
            <a:solidFill>
              <a:srgbClr val="141414"/>
            </a:solidFill>
            <a:prstDash val="solid"/>
          </a:ln>
        </p:spPr>
      </p:sp>
      <p:sp>
        <p:nvSpPr>
          <p:cNvPr id="21" name="Text 19"/>
          <p:cNvSpPr/>
          <p:nvPr/>
        </p:nvSpPr>
        <p:spPr>
          <a:xfrm>
            <a:off x="365760" y="3429000"/>
            <a:ext cx="18288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duration</a:t>
            </a:r>
            <a:endParaRPr lang="en-US" sz="1200" dirty="0"/>
          </a:p>
        </p:txBody>
      </p:sp>
      <p:sp>
        <p:nvSpPr>
          <p:cNvPr id="22" name="Text 20"/>
          <p:cNvSpPr/>
          <p:nvPr/>
        </p:nvSpPr>
        <p:spPr>
          <a:xfrm>
            <a:off x="2331720" y="3447288"/>
            <a:ext cx="6400800" cy="3200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Type-aware fill: '0 min' for Movies, '0 Season' for TV Shows</a:t>
            </a:r>
            <a:endParaRPr lang="en-US" sz="1200" dirty="0"/>
          </a:p>
        </p:txBody>
      </p:sp>
      <p:sp>
        <p:nvSpPr>
          <p:cNvPr id="23" name="Text 21"/>
          <p:cNvSpPr/>
          <p:nvPr/>
        </p:nvSpPr>
        <p:spPr>
          <a:xfrm>
            <a:off x="365760" y="3931920"/>
            <a:ext cx="8229600" cy="320040"/>
          </a:xfrm>
          <a:prstGeom prst="rect">
            <a:avLst/>
          </a:prstGeom>
          <a:noFill/>
          <a:ln/>
        </p:spPr>
        <p:txBody>
          <a:bodyPr wrap="square" rtlCol="0" anchor="ctr"/>
          <a:lstStyle/>
          <a:p>
            <a:pPr indent="0" marL="0">
              <a:buNone/>
            </a:pPr>
            <a:r>
              <a:rPr lang="en-US" sz="1500" b="1" dirty="0">
                <a:solidFill>
                  <a:srgbClr val="E50914"/>
                </a:solidFill>
                <a:latin typeface="Calibri" pitchFamily="34" charset="0"/>
                <a:ea typeface="Calibri" pitchFamily="34" charset="-122"/>
                <a:cs typeface="Calibri" pitchFamily="34" charset="-120"/>
              </a:rPr>
              <a:t>Feature Engineering</a:t>
            </a:r>
            <a:endParaRPr lang="en-US" sz="1500" dirty="0"/>
          </a:p>
        </p:txBody>
      </p:sp>
      <p:sp>
        <p:nvSpPr>
          <p:cNvPr id="24" name="Text 22"/>
          <p:cNvSpPr/>
          <p:nvPr/>
        </p:nvSpPr>
        <p:spPr>
          <a:xfrm>
            <a:off x="365760" y="4251960"/>
            <a:ext cx="841248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Extracted  year_added  and  month_added  from date_added  •  Split  duration  into  duration_num  and  duration_type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1414"/>
          </a:solidFill>
          <a:ln w="12700">
            <a:solidFill>
              <a:srgbClr val="141414"/>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Exploratory Data Analysis — Overview</a:t>
            </a:r>
            <a:endParaRPr lang="en-US" sz="2200" dirty="0"/>
          </a:p>
        </p:txBody>
      </p:sp>
      <p:sp>
        <p:nvSpPr>
          <p:cNvPr id="4" name="Shape 2"/>
          <p:cNvSpPr/>
          <p:nvPr/>
        </p:nvSpPr>
        <p:spPr>
          <a:xfrm>
            <a:off x="274320" y="868680"/>
            <a:ext cx="457200" cy="502920"/>
          </a:xfrm>
          <a:prstGeom prst="rect">
            <a:avLst/>
          </a:prstGeom>
          <a:solidFill>
            <a:srgbClr val="E50914"/>
          </a:solidFill>
          <a:ln w="12700">
            <a:solidFill>
              <a:srgbClr val="E50914"/>
            </a:solidFill>
            <a:prstDash val="solid"/>
          </a:ln>
        </p:spPr>
      </p:sp>
      <p:sp>
        <p:nvSpPr>
          <p:cNvPr id="5" name="Text 3"/>
          <p:cNvSpPr/>
          <p:nvPr/>
        </p:nvSpPr>
        <p:spPr>
          <a:xfrm>
            <a:off x="274320" y="868680"/>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777240" y="868680"/>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Movies vs TV Shows</a:t>
            </a:r>
            <a:endParaRPr lang="en-US" sz="1200" dirty="0"/>
          </a:p>
        </p:txBody>
      </p:sp>
      <p:sp>
        <p:nvSpPr>
          <p:cNvPr id="7" name="Text 5"/>
          <p:cNvSpPr/>
          <p:nvPr/>
        </p:nvSpPr>
        <p:spPr>
          <a:xfrm>
            <a:off x="777240" y="1115568"/>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~70% Movies, ~30% TV Shows</a:t>
            </a:r>
            <a:endParaRPr lang="en-US" sz="1000" dirty="0"/>
          </a:p>
        </p:txBody>
      </p:sp>
      <p:sp>
        <p:nvSpPr>
          <p:cNvPr id="8" name="Shape 6"/>
          <p:cNvSpPr/>
          <p:nvPr/>
        </p:nvSpPr>
        <p:spPr>
          <a:xfrm>
            <a:off x="4754880" y="868680"/>
            <a:ext cx="457200" cy="502920"/>
          </a:xfrm>
          <a:prstGeom prst="rect">
            <a:avLst/>
          </a:prstGeom>
          <a:solidFill>
            <a:srgbClr val="E50914"/>
          </a:solidFill>
          <a:ln w="12700">
            <a:solidFill>
              <a:srgbClr val="E50914"/>
            </a:solidFill>
            <a:prstDash val="solid"/>
          </a:ln>
        </p:spPr>
      </p:sp>
      <p:sp>
        <p:nvSpPr>
          <p:cNvPr id="9" name="Text 7"/>
          <p:cNvSpPr/>
          <p:nvPr/>
        </p:nvSpPr>
        <p:spPr>
          <a:xfrm>
            <a:off x="4754880" y="868680"/>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5257800" y="868680"/>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Content Release Trend</a:t>
            </a:r>
            <a:endParaRPr lang="en-US" sz="1200" dirty="0"/>
          </a:p>
        </p:txBody>
      </p:sp>
      <p:sp>
        <p:nvSpPr>
          <p:cNvPr id="11" name="Text 9"/>
          <p:cNvSpPr/>
          <p:nvPr/>
        </p:nvSpPr>
        <p:spPr>
          <a:xfrm>
            <a:off x="5257800" y="1115568"/>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Growth spiked rapidly after 2015</a:t>
            </a:r>
            <a:endParaRPr lang="en-US" sz="1000" dirty="0"/>
          </a:p>
        </p:txBody>
      </p:sp>
      <p:sp>
        <p:nvSpPr>
          <p:cNvPr id="12" name="Shape 10"/>
          <p:cNvSpPr/>
          <p:nvPr/>
        </p:nvSpPr>
        <p:spPr>
          <a:xfrm>
            <a:off x="274320" y="1581912"/>
            <a:ext cx="457200" cy="502920"/>
          </a:xfrm>
          <a:prstGeom prst="rect">
            <a:avLst/>
          </a:prstGeom>
          <a:solidFill>
            <a:srgbClr val="E50914"/>
          </a:solidFill>
          <a:ln w="12700">
            <a:solidFill>
              <a:srgbClr val="E50914"/>
            </a:solidFill>
            <a:prstDash val="solid"/>
          </a:ln>
        </p:spPr>
      </p:sp>
      <p:sp>
        <p:nvSpPr>
          <p:cNvPr id="13" name="Text 11"/>
          <p:cNvSpPr/>
          <p:nvPr/>
        </p:nvSpPr>
        <p:spPr>
          <a:xfrm>
            <a:off x="274320" y="1581912"/>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777240" y="1581912"/>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Top 10 Countries</a:t>
            </a:r>
            <a:endParaRPr lang="en-US" sz="1200" dirty="0"/>
          </a:p>
        </p:txBody>
      </p:sp>
      <p:sp>
        <p:nvSpPr>
          <p:cNvPr id="15" name="Text 13"/>
          <p:cNvSpPr/>
          <p:nvPr/>
        </p:nvSpPr>
        <p:spPr>
          <a:xfrm>
            <a:off x="777240" y="1828800"/>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USA leads, followed by India &amp; UK</a:t>
            </a:r>
            <a:endParaRPr lang="en-US" sz="1000" dirty="0"/>
          </a:p>
        </p:txBody>
      </p:sp>
      <p:sp>
        <p:nvSpPr>
          <p:cNvPr id="16" name="Shape 14"/>
          <p:cNvSpPr/>
          <p:nvPr/>
        </p:nvSpPr>
        <p:spPr>
          <a:xfrm>
            <a:off x="4754880" y="1581912"/>
            <a:ext cx="457200" cy="502920"/>
          </a:xfrm>
          <a:prstGeom prst="rect">
            <a:avLst/>
          </a:prstGeom>
          <a:solidFill>
            <a:srgbClr val="E50914"/>
          </a:solidFill>
          <a:ln w="12700">
            <a:solidFill>
              <a:srgbClr val="E50914"/>
            </a:solidFill>
            <a:prstDash val="solid"/>
          </a:ln>
        </p:spPr>
      </p:sp>
      <p:sp>
        <p:nvSpPr>
          <p:cNvPr id="17" name="Text 15"/>
          <p:cNvSpPr/>
          <p:nvPr/>
        </p:nvSpPr>
        <p:spPr>
          <a:xfrm>
            <a:off x="4754880" y="1581912"/>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8" name="Text 16"/>
          <p:cNvSpPr/>
          <p:nvPr/>
        </p:nvSpPr>
        <p:spPr>
          <a:xfrm>
            <a:off x="5257800" y="1581912"/>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Ratings Distribution</a:t>
            </a:r>
            <a:endParaRPr lang="en-US" sz="1200" dirty="0"/>
          </a:p>
        </p:txBody>
      </p:sp>
      <p:sp>
        <p:nvSpPr>
          <p:cNvPr id="19" name="Text 17"/>
          <p:cNvSpPr/>
          <p:nvPr/>
        </p:nvSpPr>
        <p:spPr>
          <a:xfrm>
            <a:off x="5257800" y="1828800"/>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TV-MA is the most common rating</a:t>
            </a:r>
            <a:endParaRPr lang="en-US" sz="1000" dirty="0"/>
          </a:p>
        </p:txBody>
      </p:sp>
      <p:sp>
        <p:nvSpPr>
          <p:cNvPr id="20" name="Shape 18"/>
          <p:cNvSpPr/>
          <p:nvPr/>
        </p:nvSpPr>
        <p:spPr>
          <a:xfrm>
            <a:off x="274320" y="2295144"/>
            <a:ext cx="457200" cy="502920"/>
          </a:xfrm>
          <a:prstGeom prst="rect">
            <a:avLst/>
          </a:prstGeom>
          <a:solidFill>
            <a:srgbClr val="E50914"/>
          </a:solidFill>
          <a:ln w="12700">
            <a:solidFill>
              <a:srgbClr val="E50914"/>
            </a:solidFill>
            <a:prstDash val="solid"/>
          </a:ln>
        </p:spPr>
      </p:sp>
      <p:sp>
        <p:nvSpPr>
          <p:cNvPr id="21" name="Text 19"/>
          <p:cNvSpPr/>
          <p:nvPr/>
        </p:nvSpPr>
        <p:spPr>
          <a:xfrm>
            <a:off x="274320" y="2295144"/>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2" name="Text 20"/>
          <p:cNvSpPr/>
          <p:nvPr/>
        </p:nvSpPr>
        <p:spPr>
          <a:xfrm>
            <a:off x="777240" y="2295144"/>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Top Genres</a:t>
            </a:r>
            <a:endParaRPr lang="en-US" sz="1200" dirty="0"/>
          </a:p>
        </p:txBody>
      </p:sp>
      <p:sp>
        <p:nvSpPr>
          <p:cNvPr id="23" name="Text 21"/>
          <p:cNvSpPr/>
          <p:nvPr/>
        </p:nvSpPr>
        <p:spPr>
          <a:xfrm>
            <a:off x="777240" y="2542032"/>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Dramas &amp; International Movies dominate</a:t>
            </a:r>
            <a:endParaRPr lang="en-US" sz="1000" dirty="0"/>
          </a:p>
        </p:txBody>
      </p:sp>
      <p:sp>
        <p:nvSpPr>
          <p:cNvPr id="24" name="Shape 22"/>
          <p:cNvSpPr/>
          <p:nvPr/>
        </p:nvSpPr>
        <p:spPr>
          <a:xfrm>
            <a:off x="4754880" y="2295144"/>
            <a:ext cx="457200" cy="502920"/>
          </a:xfrm>
          <a:prstGeom prst="rect">
            <a:avLst/>
          </a:prstGeom>
          <a:solidFill>
            <a:srgbClr val="E50914"/>
          </a:solidFill>
          <a:ln w="12700">
            <a:solidFill>
              <a:srgbClr val="E50914"/>
            </a:solidFill>
            <a:prstDash val="solid"/>
          </a:ln>
        </p:spPr>
      </p:sp>
      <p:sp>
        <p:nvSpPr>
          <p:cNvPr id="25" name="Text 23"/>
          <p:cNvSpPr/>
          <p:nvPr/>
        </p:nvSpPr>
        <p:spPr>
          <a:xfrm>
            <a:off x="4754880" y="2295144"/>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6" name="Text 24"/>
          <p:cNvSpPr/>
          <p:nvPr/>
        </p:nvSpPr>
        <p:spPr>
          <a:xfrm>
            <a:off x="5257800" y="2295144"/>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Content Added Each Year</a:t>
            </a:r>
            <a:endParaRPr lang="en-US" sz="1200" dirty="0"/>
          </a:p>
        </p:txBody>
      </p:sp>
      <p:sp>
        <p:nvSpPr>
          <p:cNvPr id="27" name="Text 25"/>
          <p:cNvSpPr/>
          <p:nvPr/>
        </p:nvSpPr>
        <p:spPr>
          <a:xfrm>
            <a:off x="5257800" y="2542032"/>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Peak additions between 2017–2019</a:t>
            </a:r>
            <a:endParaRPr lang="en-US" sz="1000" dirty="0"/>
          </a:p>
        </p:txBody>
      </p:sp>
      <p:sp>
        <p:nvSpPr>
          <p:cNvPr id="28" name="Shape 26"/>
          <p:cNvSpPr/>
          <p:nvPr/>
        </p:nvSpPr>
        <p:spPr>
          <a:xfrm>
            <a:off x="274320" y="3008376"/>
            <a:ext cx="457200" cy="502920"/>
          </a:xfrm>
          <a:prstGeom prst="rect">
            <a:avLst/>
          </a:prstGeom>
          <a:solidFill>
            <a:srgbClr val="E50914"/>
          </a:solidFill>
          <a:ln w="12700">
            <a:solidFill>
              <a:srgbClr val="E50914"/>
            </a:solidFill>
            <a:prstDash val="solid"/>
          </a:ln>
        </p:spPr>
      </p:sp>
      <p:sp>
        <p:nvSpPr>
          <p:cNvPr id="29" name="Text 27"/>
          <p:cNvSpPr/>
          <p:nvPr/>
        </p:nvSpPr>
        <p:spPr>
          <a:xfrm>
            <a:off x="274320" y="3008376"/>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0" name="Text 28"/>
          <p:cNvSpPr/>
          <p:nvPr/>
        </p:nvSpPr>
        <p:spPr>
          <a:xfrm>
            <a:off x="777240" y="3008376"/>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Month-wise Additions</a:t>
            </a:r>
            <a:endParaRPr lang="en-US" sz="1200" dirty="0"/>
          </a:p>
        </p:txBody>
      </p:sp>
      <p:sp>
        <p:nvSpPr>
          <p:cNvPr id="31" name="Text 29"/>
          <p:cNvSpPr/>
          <p:nvPr/>
        </p:nvSpPr>
        <p:spPr>
          <a:xfrm>
            <a:off x="777240" y="3255264"/>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January &amp; July are peak months</a:t>
            </a:r>
            <a:endParaRPr lang="en-US" sz="1000" dirty="0"/>
          </a:p>
        </p:txBody>
      </p:sp>
      <p:sp>
        <p:nvSpPr>
          <p:cNvPr id="32" name="Shape 30"/>
          <p:cNvSpPr/>
          <p:nvPr/>
        </p:nvSpPr>
        <p:spPr>
          <a:xfrm>
            <a:off x="4754880" y="3008376"/>
            <a:ext cx="457200" cy="502920"/>
          </a:xfrm>
          <a:prstGeom prst="rect">
            <a:avLst/>
          </a:prstGeom>
          <a:solidFill>
            <a:srgbClr val="E50914"/>
          </a:solidFill>
          <a:ln w="12700">
            <a:solidFill>
              <a:srgbClr val="E50914"/>
            </a:solidFill>
            <a:prstDash val="solid"/>
          </a:ln>
        </p:spPr>
      </p:sp>
      <p:sp>
        <p:nvSpPr>
          <p:cNvPr id="33" name="Text 31"/>
          <p:cNvSpPr/>
          <p:nvPr/>
        </p:nvSpPr>
        <p:spPr>
          <a:xfrm>
            <a:off x="4754880" y="3008376"/>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34" name="Text 32"/>
          <p:cNvSpPr/>
          <p:nvPr/>
        </p:nvSpPr>
        <p:spPr>
          <a:xfrm>
            <a:off x="5257800" y="3008376"/>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Longest Movies</a:t>
            </a:r>
            <a:endParaRPr lang="en-US" sz="1200" dirty="0"/>
          </a:p>
        </p:txBody>
      </p:sp>
      <p:sp>
        <p:nvSpPr>
          <p:cNvPr id="35" name="Text 33"/>
          <p:cNvSpPr/>
          <p:nvPr/>
        </p:nvSpPr>
        <p:spPr>
          <a:xfrm>
            <a:off x="5257800" y="3255264"/>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Some films exceed 3 hours</a:t>
            </a:r>
            <a:endParaRPr lang="en-US" sz="1000" dirty="0"/>
          </a:p>
        </p:txBody>
      </p:sp>
      <p:sp>
        <p:nvSpPr>
          <p:cNvPr id="36" name="Shape 34"/>
          <p:cNvSpPr/>
          <p:nvPr/>
        </p:nvSpPr>
        <p:spPr>
          <a:xfrm>
            <a:off x="274320" y="3721608"/>
            <a:ext cx="457200" cy="502920"/>
          </a:xfrm>
          <a:prstGeom prst="rect">
            <a:avLst/>
          </a:prstGeom>
          <a:solidFill>
            <a:srgbClr val="E50914"/>
          </a:solidFill>
          <a:ln w="12700">
            <a:solidFill>
              <a:srgbClr val="E50914"/>
            </a:solidFill>
            <a:prstDash val="solid"/>
          </a:ln>
        </p:spPr>
      </p:sp>
      <p:sp>
        <p:nvSpPr>
          <p:cNvPr id="37" name="Text 35"/>
          <p:cNvSpPr/>
          <p:nvPr/>
        </p:nvSpPr>
        <p:spPr>
          <a:xfrm>
            <a:off x="274320" y="3721608"/>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8" name="Text 36"/>
          <p:cNvSpPr/>
          <p:nvPr/>
        </p:nvSpPr>
        <p:spPr>
          <a:xfrm>
            <a:off x="777240" y="3721608"/>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Top Directors</a:t>
            </a:r>
            <a:endParaRPr lang="en-US" sz="1200" dirty="0"/>
          </a:p>
        </p:txBody>
      </p:sp>
      <p:sp>
        <p:nvSpPr>
          <p:cNvPr id="39" name="Text 37"/>
          <p:cNvSpPr/>
          <p:nvPr/>
        </p:nvSpPr>
        <p:spPr>
          <a:xfrm>
            <a:off x="777240" y="3968496"/>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Repeat collaborations with Netflix</a:t>
            </a:r>
            <a:endParaRPr lang="en-US" sz="1000" dirty="0"/>
          </a:p>
        </p:txBody>
      </p:sp>
      <p:sp>
        <p:nvSpPr>
          <p:cNvPr id="40" name="Shape 38"/>
          <p:cNvSpPr/>
          <p:nvPr/>
        </p:nvSpPr>
        <p:spPr>
          <a:xfrm>
            <a:off x="4754880" y="3721608"/>
            <a:ext cx="457200" cy="502920"/>
          </a:xfrm>
          <a:prstGeom prst="rect">
            <a:avLst/>
          </a:prstGeom>
          <a:solidFill>
            <a:srgbClr val="E50914"/>
          </a:solidFill>
          <a:ln w="12700">
            <a:solidFill>
              <a:srgbClr val="E50914"/>
            </a:solidFill>
            <a:prstDash val="solid"/>
          </a:ln>
        </p:spPr>
      </p:sp>
      <p:sp>
        <p:nvSpPr>
          <p:cNvPr id="41" name="Text 39"/>
          <p:cNvSpPr/>
          <p:nvPr/>
        </p:nvSpPr>
        <p:spPr>
          <a:xfrm>
            <a:off x="4754880" y="3721608"/>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2" name="Text 40"/>
          <p:cNvSpPr/>
          <p:nvPr/>
        </p:nvSpPr>
        <p:spPr>
          <a:xfrm>
            <a:off x="5257800" y="3721608"/>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Country × Rating Heatmap</a:t>
            </a:r>
            <a:endParaRPr lang="en-US" sz="1200" dirty="0"/>
          </a:p>
        </p:txBody>
      </p:sp>
      <p:sp>
        <p:nvSpPr>
          <p:cNvPr id="43" name="Text 41"/>
          <p:cNvSpPr/>
          <p:nvPr/>
        </p:nvSpPr>
        <p:spPr>
          <a:xfrm>
            <a:off x="5257800" y="3968496"/>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USA dominates TV-MA &amp; TV-14</a:t>
            </a:r>
            <a:endParaRPr lang="en-US" sz="1000" dirty="0"/>
          </a:p>
        </p:txBody>
      </p:sp>
      <p:sp>
        <p:nvSpPr>
          <p:cNvPr id="44" name="Shape 42"/>
          <p:cNvSpPr/>
          <p:nvPr/>
        </p:nvSpPr>
        <p:spPr>
          <a:xfrm>
            <a:off x="274320" y="4434840"/>
            <a:ext cx="457200" cy="502920"/>
          </a:xfrm>
          <a:prstGeom prst="rect">
            <a:avLst/>
          </a:prstGeom>
          <a:solidFill>
            <a:srgbClr val="E50914"/>
          </a:solidFill>
          <a:ln w="12700">
            <a:solidFill>
              <a:srgbClr val="E50914"/>
            </a:solidFill>
            <a:prstDash val="solid"/>
          </a:ln>
        </p:spPr>
      </p:sp>
      <p:sp>
        <p:nvSpPr>
          <p:cNvPr id="45" name="Text 43"/>
          <p:cNvSpPr/>
          <p:nvPr/>
        </p:nvSpPr>
        <p:spPr>
          <a:xfrm>
            <a:off x="274320" y="4434840"/>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6" name="Text 44"/>
          <p:cNvSpPr/>
          <p:nvPr/>
        </p:nvSpPr>
        <p:spPr>
          <a:xfrm>
            <a:off x="777240" y="4434840"/>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Top Cast Members</a:t>
            </a:r>
            <a:endParaRPr lang="en-US" sz="1200" dirty="0"/>
          </a:p>
        </p:txBody>
      </p:sp>
      <p:sp>
        <p:nvSpPr>
          <p:cNvPr id="47" name="Text 45"/>
          <p:cNvSpPr/>
          <p:nvPr/>
        </p:nvSpPr>
        <p:spPr>
          <a:xfrm>
            <a:off x="777240" y="4681728"/>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Indian cinema actors appear most</a:t>
            </a:r>
            <a:endParaRPr lang="en-US" sz="1000" dirty="0"/>
          </a:p>
        </p:txBody>
      </p:sp>
      <p:sp>
        <p:nvSpPr>
          <p:cNvPr id="48" name="Shape 46"/>
          <p:cNvSpPr/>
          <p:nvPr/>
        </p:nvSpPr>
        <p:spPr>
          <a:xfrm>
            <a:off x="4754880" y="4434840"/>
            <a:ext cx="457200" cy="502920"/>
          </a:xfrm>
          <a:prstGeom prst="rect">
            <a:avLst/>
          </a:prstGeom>
          <a:solidFill>
            <a:srgbClr val="E50914"/>
          </a:solidFill>
          <a:ln w="12700">
            <a:solidFill>
              <a:srgbClr val="E50914"/>
            </a:solidFill>
            <a:prstDash val="solid"/>
          </a:ln>
        </p:spPr>
      </p:sp>
      <p:sp>
        <p:nvSpPr>
          <p:cNvPr id="49" name="Text 47"/>
          <p:cNvSpPr/>
          <p:nvPr/>
        </p:nvSpPr>
        <p:spPr>
          <a:xfrm>
            <a:off x="4754880" y="4434840"/>
            <a:ext cx="457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0" name="Text 48"/>
          <p:cNvSpPr/>
          <p:nvPr/>
        </p:nvSpPr>
        <p:spPr>
          <a:xfrm>
            <a:off x="5257800" y="4434840"/>
            <a:ext cx="3200400" cy="256032"/>
          </a:xfrm>
          <a:prstGeom prst="rect">
            <a:avLst/>
          </a:prstGeom>
          <a:noFill/>
          <a:ln/>
        </p:spPr>
        <p:txBody>
          <a:bodyPr wrap="square"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Word Cloud</a:t>
            </a:r>
            <a:endParaRPr lang="en-US" sz="1200" dirty="0"/>
          </a:p>
        </p:txBody>
      </p:sp>
      <p:sp>
        <p:nvSpPr>
          <p:cNvPr id="51" name="Text 49"/>
          <p:cNvSpPr/>
          <p:nvPr/>
        </p:nvSpPr>
        <p:spPr>
          <a:xfrm>
            <a:off x="5257800" y="4681728"/>
            <a:ext cx="3474720" cy="228600"/>
          </a:xfrm>
          <a:prstGeom prst="rect">
            <a:avLst/>
          </a:prstGeom>
          <a:noFill/>
          <a:ln/>
        </p:spPr>
        <p:txBody>
          <a:bodyPr wrap="square" rtlCol="0" anchor="ctr"/>
          <a:lstStyle/>
          <a:p>
            <a:pPr indent="0" marL="0">
              <a:buNone/>
            </a:pPr>
            <a:r>
              <a:rPr lang="en-US" sz="1000" dirty="0">
                <a:solidFill>
                  <a:srgbClr val="B3B3B3"/>
                </a:solidFill>
                <a:latin typeface="Calibri" pitchFamily="34" charset="0"/>
                <a:ea typeface="Calibri" pitchFamily="34" charset="-122"/>
                <a:cs typeface="Calibri" pitchFamily="34" charset="-120"/>
              </a:rPr>
              <a:t>Life, family, love are top themes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50914"/>
          </a:solidFill>
          <a:ln w="12700">
            <a:solidFill>
              <a:srgbClr val="E50914"/>
            </a:solidFill>
            <a:prstDash val="solid"/>
          </a:ln>
        </p:spPr>
      </p:sp>
      <p:sp>
        <p:nvSpPr>
          <p:cNvPr id="3" name="Text 1"/>
          <p:cNvSpPr/>
          <p:nvPr/>
        </p:nvSpPr>
        <p:spPr>
          <a:xfrm>
            <a:off x="548640" y="18288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Findings</a:t>
            </a:r>
            <a:endParaRPr lang="en-US" sz="2800" dirty="0"/>
          </a:p>
        </p:txBody>
      </p:sp>
      <p:sp>
        <p:nvSpPr>
          <p:cNvPr id="4" name="Shape 2"/>
          <p:cNvSpPr/>
          <p:nvPr/>
        </p:nvSpPr>
        <p:spPr>
          <a:xfrm>
            <a:off x="548640" y="987552"/>
            <a:ext cx="201168" cy="201168"/>
          </a:xfrm>
          <a:prstGeom prst="ellipse">
            <a:avLst/>
          </a:prstGeom>
          <a:solidFill>
            <a:srgbClr val="E50914"/>
          </a:solidFill>
          <a:ln w="12700">
            <a:solidFill>
              <a:srgbClr val="E50914"/>
            </a:solidFill>
            <a:prstDash val="solid"/>
          </a:ln>
        </p:spPr>
      </p:sp>
      <p:sp>
        <p:nvSpPr>
          <p:cNvPr id="5" name="Text 3"/>
          <p:cNvSpPr/>
          <p:nvPr/>
        </p:nvSpPr>
        <p:spPr>
          <a:xfrm>
            <a:off x="822960" y="91440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Netflix contains approximately 70% Movies and 30% TV Shows</a:t>
            </a:r>
            <a:endParaRPr lang="en-US" sz="1150" dirty="0"/>
          </a:p>
        </p:txBody>
      </p:sp>
      <p:sp>
        <p:nvSpPr>
          <p:cNvPr id="6" name="Shape 4"/>
          <p:cNvSpPr/>
          <p:nvPr/>
        </p:nvSpPr>
        <p:spPr>
          <a:xfrm>
            <a:off x="548640" y="1764792"/>
            <a:ext cx="201168" cy="201168"/>
          </a:xfrm>
          <a:prstGeom prst="ellipse">
            <a:avLst/>
          </a:prstGeom>
          <a:solidFill>
            <a:srgbClr val="E50914"/>
          </a:solidFill>
          <a:ln w="12700">
            <a:solidFill>
              <a:srgbClr val="E50914"/>
            </a:solidFill>
            <a:prstDash val="solid"/>
          </a:ln>
        </p:spPr>
      </p:sp>
      <p:sp>
        <p:nvSpPr>
          <p:cNvPr id="7" name="Text 5"/>
          <p:cNvSpPr/>
          <p:nvPr/>
        </p:nvSpPr>
        <p:spPr>
          <a:xfrm>
            <a:off x="822960" y="169164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United States is the top content-producing country, followed by India and the UK</a:t>
            </a:r>
            <a:endParaRPr lang="en-US" sz="1150" dirty="0"/>
          </a:p>
        </p:txBody>
      </p:sp>
      <p:sp>
        <p:nvSpPr>
          <p:cNvPr id="8" name="Shape 6"/>
          <p:cNvSpPr/>
          <p:nvPr/>
        </p:nvSpPr>
        <p:spPr>
          <a:xfrm>
            <a:off x="548640" y="2542032"/>
            <a:ext cx="201168" cy="201168"/>
          </a:xfrm>
          <a:prstGeom prst="ellipse">
            <a:avLst/>
          </a:prstGeom>
          <a:solidFill>
            <a:srgbClr val="E50914"/>
          </a:solidFill>
          <a:ln w="12700">
            <a:solidFill>
              <a:srgbClr val="E50914"/>
            </a:solidFill>
            <a:prstDash val="solid"/>
          </a:ln>
        </p:spPr>
      </p:sp>
      <p:sp>
        <p:nvSpPr>
          <p:cNvPr id="9" name="Text 7"/>
          <p:cNvSpPr/>
          <p:nvPr/>
        </p:nvSpPr>
        <p:spPr>
          <a:xfrm>
            <a:off x="822960" y="246888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Content additions grew rapidly after 2015, peaking around 2019–2020</a:t>
            </a:r>
            <a:endParaRPr lang="en-US" sz="1150" dirty="0"/>
          </a:p>
        </p:txBody>
      </p:sp>
      <p:sp>
        <p:nvSpPr>
          <p:cNvPr id="10" name="Shape 8"/>
          <p:cNvSpPr/>
          <p:nvPr/>
        </p:nvSpPr>
        <p:spPr>
          <a:xfrm>
            <a:off x="548640" y="3319272"/>
            <a:ext cx="201168" cy="201168"/>
          </a:xfrm>
          <a:prstGeom prst="ellipse">
            <a:avLst/>
          </a:prstGeom>
          <a:solidFill>
            <a:srgbClr val="E50914"/>
          </a:solidFill>
          <a:ln w="12700">
            <a:solidFill>
              <a:srgbClr val="E50914"/>
            </a:solidFill>
            <a:prstDash val="solid"/>
          </a:ln>
        </p:spPr>
      </p:sp>
      <p:sp>
        <p:nvSpPr>
          <p:cNvPr id="11" name="Text 9"/>
          <p:cNvSpPr/>
          <p:nvPr/>
        </p:nvSpPr>
        <p:spPr>
          <a:xfrm>
            <a:off x="822960" y="324612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TV-MA is the most common rating, dominating both Movies and TV Shows</a:t>
            </a:r>
            <a:endParaRPr lang="en-US" sz="1150" dirty="0"/>
          </a:p>
        </p:txBody>
      </p:sp>
      <p:sp>
        <p:nvSpPr>
          <p:cNvPr id="12" name="Shape 10"/>
          <p:cNvSpPr/>
          <p:nvPr/>
        </p:nvSpPr>
        <p:spPr>
          <a:xfrm>
            <a:off x="548640" y="4096512"/>
            <a:ext cx="201168" cy="201168"/>
          </a:xfrm>
          <a:prstGeom prst="ellipse">
            <a:avLst/>
          </a:prstGeom>
          <a:solidFill>
            <a:srgbClr val="E50914"/>
          </a:solidFill>
          <a:ln w="12700">
            <a:solidFill>
              <a:srgbClr val="E50914"/>
            </a:solidFill>
            <a:prstDash val="solid"/>
          </a:ln>
        </p:spPr>
      </p:sp>
      <p:sp>
        <p:nvSpPr>
          <p:cNvPr id="13" name="Text 11"/>
          <p:cNvSpPr/>
          <p:nvPr/>
        </p:nvSpPr>
        <p:spPr>
          <a:xfrm>
            <a:off x="822960" y="402336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Dramas and International Movies are the most popular genres</a:t>
            </a:r>
            <a:endParaRPr lang="en-US" sz="1150" dirty="0"/>
          </a:p>
        </p:txBody>
      </p:sp>
      <p:sp>
        <p:nvSpPr>
          <p:cNvPr id="14" name="Shape 12"/>
          <p:cNvSpPr/>
          <p:nvPr/>
        </p:nvSpPr>
        <p:spPr>
          <a:xfrm>
            <a:off x="4937760" y="987552"/>
            <a:ext cx="201168" cy="201168"/>
          </a:xfrm>
          <a:prstGeom prst="ellipse">
            <a:avLst/>
          </a:prstGeom>
          <a:solidFill>
            <a:srgbClr val="E50914"/>
          </a:solidFill>
          <a:ln w="12700">
            <a:solidFill>
              <a:srgbClr val="E50914"/>
            </a:solidFill>
            <a:prstDash val="solid"/>
          </a:ln>
        </p:spPr>
      </p:sp>
      <p:sp>
        <p:nvSpPr>
          <p:cNvPr id="15" name="Text 13"/>
          <p:cNvSpPr/>
          <p:nvPr/>
        </p:nvSpPr>
        <p:spPr>
          <a:xfrm>
            <a:off x="5212080" y="91440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Netflix adds the most content in January and July</a:t>
            </a:r>
            <a:endParaRPr lang="en-US" sz="1150" dirty="0"/>
          </a:p>
        </p:txBody>
      </p:sp>
      <p:sp>
        <p:nvSpPr>
          <p:cNvPr id="16" name="Shape 14"/>
          <p:cNvSpPr/>
          <p:nvPr/>
        </p:nvSpPr>
        <p:spPr>
          <a:xfrm>
            <a:off x="4937760" y="1764792"/>
            <a:ext cx="201168" cy="201168"/>
          </a:xfrm>
          <a:prstGeom prst="ellipse">
            <a:avLst/>
          </a:prstGeom>
          <a:solidFill>
            <a:srgbClr val="E50914"/>
          </a:solidFill>
          <a:ln w="12700">
            <a:solidFill>
              <a:srgbClr val="E50914"/>
            </a:solidFill>
            <a:prstDash val="solid"/>
          </a:ln>
        </p:spPr>
      </p:sp>
      <p:sp>
        <p:nvSpPr>
          <p:cNvPr id="17" name="Text 15"/>
          <p:cNvSpPr/>
          <p:nvPr/>
        </p:nvSpPr>
        <p:spPr>
          <a:xfrm>
            <a:off x="5212080" y="169164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USA dominates TV-MA and TV-14 in the Country × Rating Heatmap</a:t>
            </a:r>
            <a:endParaRPr lang="en-US" sz="1150" dirty="0"/>
          </a:p>
        </p:txBody>
      </p:sp>
      <p:sp>
        <p:nvSpPr>
          <p:cNvPr id="18" name="Shape 16"/>
          <p:cNvSpPr/>
          <p:nvPr/>
        </p:nvSpPr>
        <p:spPr>
          <a:xfrm>
            <a:off x="4937760" y="2542032"/>
            <a:ext cx="201168" cy="201168"/>
          </a:xfrm>
          <a:prstGeom prst="ellipse">
            <a:avLst/>
          </a:prstGeom>
          <a:solidFill>
            <a:srgbClr val="E50914"/>
          </a:solidFill>
          <a:ln w="12700">
            <a:solidFill>
              <a:srgbClr val="E50914"/>
            </a:solidFill>
            <a:prstDash val="solid"/>
          </a:ln>
        </p:spPr>
      </p:sp>
      <p:sp>
        <p:nvSpPr>
          <p:cNvPr id="19" name="Text 17"/>
          <p:cNvSpPr/>
          <p:nvPr/>
        </p:nvSpPr>
        <p:spPr>
          <a:xfrm>
            <a:off x="5212080" y="246888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Certain directors and cast members show strong repeat partnerships with Netflix</a:t>
            </a:r>
            <a:endParaRPr lang="en-US" sz="1150" dirty="0"/>
          </a:p>
        </p:txBody>
      </p:sp>
      <p:sp>
        <p:nvSpPr>
          <p:cNvPr id="20" name="Shape 18"/>
          <p:cNvSpPr/>
          <p:nvPr/>
        </p:nvSpPr>
        <p:spPr>
          <a:xfrm>
            <a:off x="4937760" y="3319272"/>
            <a:ext cx="201168" cy="201168"/>
          </a:xfrm>
          <a:prstGeom prst="ellipse">
            <a:avLst/>
          </a:prstGeom>
          <a:solidFill>
            <a:srgbClr val="E50914"/>
          </a:solidFill>
          <a:ln w="12700">
            <a:solidFill>
              <a:srgbClr val="E50914"/>
            </a:solidFill>
            <a:prstDash val="solid"/>
          </a:ln>
        </p:spPr>
      </p:sp>
      <p:sp>
        <p:nvSpPr>
          <p:cNvPr id="21" name="Text 19"/>
          <p:cNvSpPr/>
          <p:nvPr/>
        </p:nvSpPr>
        <p:spPr>
          <a:xfrm>
            <a:off x="5212080" y="3246120"/>
            <a:ext cx="3931920" cy="502920"/>
          </a:xfrm>
          <a:prstGeom prst="rect">
            <a:avLst/>
          </a:prstGeom>
          <a:noFill/>
          <a:ln/>
        </p:spPr>
        <p:txBody>
          <a:bodyPr wrap="square" rtlCol="0" anchor="ctr"/>
          <a:lstStyle/>
          <a:p>
            <a:pPr indent="0" marL="0">
              <a:buNone/>
            </a:pPr>
            <a:r>
              <a:rPr lang="en-US" sz="1150" dirty="0">
                <a:solidFill>
                  <a:srgbClr val="F2F2F2"/>
                </a:solidFill>
                <a:latin typeface="Calibri" pitchFamily="34" charset="0"/>
                <a:ea typeface="Calibri" pitchFamily="34" charset="-122"/>
                <a:cs typeface="Calibri" pitchFamily="34" charset="-120"/>
              </a:rPr>
              <a:t>Common themes in descriptions: family, life, love, and relationships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1414"/>
          </a:solidFill>
          <a:ln w="12700">
            <a:solidFill>
              <a:srgbClr val="141414"/>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 &amp; Future Enhancements</a:t>
            </a:r>
            <a:endParaRPr lang="en-US" sz="2200" dirty="0"/>
          </a:p>
        </p:txBody>
      </p:sp>
      <p:sp>
        <p:nvSpPr>
          <p:cNvPr id="4" name="Text 2"/>
          <p:cNvSpPr/>
          <p:nvPr/>
        </p:nvSpPr>
        <p:spPr>
          <a:xfrm>
            <a:off x="365760" y="822960"/>
            <a:ext cx="8229600" cy="365760"/>
          </a:xfrm>
          <a:prstGeom prst="rect">
            <a:avLst/>
          </a:prstGeom>
          <a:noFill/>
          <a:ln/>
        </p:spPr>
        <p:txBody>
          <a:bodyPr wrap="square" rtlCol="0" anchor="ctr"/>
          <a:lstStyle/>
          <a:p>
            <a:pPr indent="0" marL="0">
              <a:buNone/>
            </a:pPr>
            <a:r>
              <a:rPr lang="en-US" sz="1500" b="1" dirty="0">
                <a:solidFill>
                  <a:srgbClr val="E50914"/>
                </a:solidFill>
                <a:latin typeface="Calibri" pitchFamily="34" charset="0"/>
                <a:ea typeface="Calibri" pitchFamily="34" charset="-122"/>
                <a:cs typeface="Calibri" pitchFamily="34" charset="-120"/>
              </a:rPr>
              <a:t>Conclusion</a:t>
            </a:r>
            <a:endParaRPr lang="en-US" sz="1500" dirty="0"/>
          </a:p>
        </p:txBody>
      </p:sp>
      <p:sp>
        <p:nvSpPr>
          <p:cNvPr id="5" name="Text 3"/>
          <p:cNvSpPr/>
          <p:nvPr/>
        </p:nvSpPr>
        <p:spPr>
          <a:xfrm>
            <a:off x="365760" y="1188720"/>
            <a:ext cx="8412480" cy="10058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This project successfully performed Exploratory Data Analysis on the Netflix Movies and TV Shows dataset using Python. Through data cleaning, preprocessing, and visualization, meaningful insights were generated about Netflix's content distribution, growth trends, ratings, genres, and country-wise contributions. Libraries used: Pandas, NumPy, Matplotlib, Seaborn, and WordCloud.</a:t>
            </a:r>
            <a:endParaRPr lang="en-US" sz="1300" dirty="0"/>
          </a:p>
        </p:txBody>
      </p:sp>
      <p:sp>
        <p:nvSpPr>
          <p:cNvPr id="6" name="Text 4"/>
          <p:cNvSpPr/>
          <p:nvPr/>
        </p:nvSpPr>
        <p:spPr>
          <a:xfrm>
            <a:off x="365760" y="2331720"/>
            <a:ext cx="8229600" cy="365760"/>
          </a:xfrm>
          <a:prstGeom prst="rect">
            <a:avLst/>
          </a:prstGeom>
          <a:noFill/>
          <a:ln/>
        </p:spPr>
        <p:txBody>
          <a:bodyPr wrap="square" rtlCol="0" anchor="ctr"/>
          <a:lstStyle/>
          <a:p>
            <a:pPr indent="0" marL="0">
              <a:buNone/>
            </a:pPr>
            <a:r>
              <a:rPr lang="en-US" sz="1500" b="1" dirty="0">
                <a:solidFill>
                  <a:srgbClr val="E50914"/>
                </a:solidFill>
                <a:latin typeface="Calibri" pitchFamily="34" charset="0"/>
                <a:ea typeface="Calibri" pitchFamily="34" charset="-122"/>
                <a:cs typeface="Calibri" pitchFamily="34" charset="-120"/>
              </a:rPr>
              <a:t>Future Enhancements</a:t>
            </a:r>
            <a:endParaRPr lang="en-US" sz="1500" dirty="0"/>
          </a:p>
        </p:txBody>
      </p:sp>
      <p:sp>
        <p:nvSpPr>
          <p:cNvPr id="7" name="Text 5"/>
          <p:cNvSpPr/>
          <p:nvPr/>
        </p:nvSpPr>
        <p:spPr>
          <a:xfrm>
            <a:off x="457200" y="2697480"/>
            <a:ext cx="8229600" cy="1645920"/>
          </a:xfrm>
          <a:prstGeom prst="rect">
            <a:avLst/>
          </a:prstGeom>
          <a:noFill/>
          <a:ln/>
        </p:spPr>
        <p:txBody>
          <a:bodyPr wrap="square" rtlCol="0" anchor="ctr"/>
          <a:lstStyle/>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Build a content recommendation system using Machine Learning</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Perform sentiment analysis on Netflix content descriptions</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Create interactive dashboards using Plotly or Streamlit</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Apply ML models to predict content ratings</a:t>
            </a:r>
            <a:endParaRPr lang="en-US" sz="1300" dirty="0"/>
          </a:p>
        </p:txBody>
      </p:sp>
      <p:sp>
        <p:nvSpPr>
          <p:cNvPr id="8" name="Shape 6"/>
          <p:cNvSpPr/>
          <p:nvPr/>
        </p:nvSpPr>
        <p:spPr>
          <a:xfrm>
            <a:off x="0" y="4663440"/>
            <a:ext cx="9144000" cy="480060"/>
          </a:xfrm>
          <a:prstGeom prst="rect">
            <a:avLst/>
          </a:prstGeom>
          <a:solidFill>
            <a:srgbClr val="141414"/>
          </a:solidFill>
          <a:ln w="12700">
            <a:solidFill>
              <a:srgbClr val="141414"/>
            </a:solidFill>
            <a:prstDash val="solid"/>
          </a:ln>
        </p:spPr>
      </p:sp>
      <p:sp>
        <p:nvSpPr>
          <p:cNvPr id="9" name="Text 7"/>
          <p:cNvSpPr/>
          <p:nvPr/>
        </p:nvSpPr>
        <p:spPr>
          <a:xfrm>
            <a:off x="365760" y="4709160"/>
            <a:ext cx="8412480" cy="365760"/>
          </a:xfrm>
          <a:prstGeom prst="rect">
            <a:avLst/>
          </a:prstGeom>
          <a:noFill/>
          <a:ln/>
        </p:spPr>
        <p:txBody>
          <a:bodyPr wrap="square" rtlCol="0" anchor="ctr"/>
          <a:lstStyle/>
          <a:p>
            <a:pPr algn="ctr" indent="0" marL="0">
              <a:buNone/>
            </a:pPr>
            <a:r>
              <a:rPr lang="en-US" sz="1100" dirty="0">
                <a:solidFill>
                  <a:srgbClr val="B3B3B3"/>
                </a:solidFill>
                <a:latin typeface="Calibri" pitchFamily="34" charset="0"/>
                <a:ea typeface="Calibri" pitchFamily="34" charset="-122"/>
                <a:cs typeface="Calibri" pitchFamily="34" charset="-120"/>
              </a:rPr>
              <a:t>Dhanushree N  |  EDA of Netflix Movies &amp; TV Shows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2026-05-09T16:51:51Z</dcterms:created>
  <dcterms:modified xsi:type="dcterms:W3CDTF">2026-05-09T16:51:51Z</dcterms:modified>
</cp:coreProperties>
</file>